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20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93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73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8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41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9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87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952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76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31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A6FB7-EFEC-44C4-83C7-630BED4B9C5A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53EF86F-6AA1-48F9-974A-B9F891D21FF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57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427B4-CF56-4756-A58A-2F04ECF796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 err="1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Бизнес-модель</a:t>
            </a:r>
            <a:r>
              <a:rPr lang="en-US" sz="6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</a:t>
            </a:r>
            <a:r>
              <a:rPr lang="en-US" sz="6000" dirty="0" err="1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информационных</a:t>
            </a:r>
            <a:r>
              <a:rPr lang="en-US" sz="6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</a:t>
            </a:r>
            <a:r>
              <a:rPr lang="en-US" sz="6000" dirty="0" err="1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порталов</a:t>
            </a:r>
            <a:br>
              <a:rPr lang="en-US" sz="6000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55B3-EBAE-42D5-BBE9-84E196C3E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1653" y="5078081"/>
            <a:ext cx="5474937" cy="977621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5500" dirty="0">
                <a:latin typeface="Calibri" panose="020F0502020204030204" charset="0"/>
                <a:cs typeface="Calibri" panose="020F0502020204030204" charset="0"/>
                <a:sym typeface="+mn-ea"/>
              </a:rPr>
              <a:t>Выполнил: </a:t>
            </a:r>
            <a:r>
              <a:rPr lang="ru-RU" sz="55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Плахин</a:t>
            </a:r>
            <a:r>
              <a:rPr lang="ru-RU" sz="5500" dirty="0">
                <a:latin typeface="Calibri" panose="020F0502020204030204" charset="0"/>
                <a:cs typeface="Calibri" panose="020F0502020204030204" charset="0"/>
                <a:sym typeface="+mn-ea"/>
              </a:rPr>
              <a:t> Д.А.</a:t>
            </a:r>
            <a:endParaRPr lang="ru-RU" sz="5500" dirty="0"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ru-RU" sz="5500" dirty="0">
                <a:latin typeface="Calibri" panose="020F0502020204030204" charset="0"/>
                <a:cs typeface="Calibri" panose="020F0502020204030204" charset="0"/>
                <a:sym typeface="+mn-ea"/>
              </a:rPr>
              <a:t>Студент группы: АП-327</a:t>
            </a:r>
            <a:endParaRPr lang="ru-RU" sz="5500" dirty="0"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ru-RU" sz="5500" dirty="0">
                <a:latin typeface="Calibri" panose="020F0502020204030204" charset="0"/>
                <a:cs typeface="Calibri" panose="020F0502020204030204" charset="0"/>
                <a:sym typeface="+mn-ea"/>
              </a:rPr>
              <a:t>Руководитель: </a:t>
            </a:r>
            <a:r>
              <a:rPr lang="ru-RU" sz="55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Курчеева</a:t>
            </a:r>
            <a:r>
              <a:rPr lang="ru-RU" sz="5500" dirty="0">
                <a:latin typeface="Calibri" panose="020F0502020204030204" charset="0"/>
                <a:cs typeface="Calibri" panose="020F0502020204030204" charset="0"/>
                <a:sym typeface="+mn-ea"/>
              </a:rPr>
              <a:t> Галина Ивановна, к.э.н., доцент</a:t>
            </a:r>
            <a:endParaRPr lang="zh-CN" altLang="en-US" sz="55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  <a:cs typeface="Calibri" panose="020F050202020403020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97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F092E33D-B487-48BE-8CA3-6A9FF94D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524" y="130514"/>
            <a:ext cx="11145253" cy="741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2800" dirty="0"/>
              <a:t>Направления деятельности и </a:t>
            </a:r>
            <a:br>
              <a:rPr lang="ru-RU" sz="2800" dirty="0"/>
            </a:br>
            <a:r>
              <a:rPr lang="en-US" sz="2800" dirty="0" err="1"/>
              <a:t>целевые</a:t>
            </a:r>
            <a:r>
              <a:rPr lang="en-US" sz="2800" dirty="0"/>
              <a:t> </a:t>
            </a:r>
            <a:r>
              <a:rPr lang="en-US" sz="2800" dirty="0" err="1"/>
              <a:t>сегменты</a:t>
            </a:r>
            <a:endParaRPr lang="en-US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278A0-3BCE-41BF-817D-568239D39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963" y="1882576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	Информационные порталы направлены на </a:t>
            </a:r>
            <a:r>
              <a:rPr lang="en-US" dirty="0" err="1"/>
              <a:t>информирование</a:t>
            </a:r>
            <a:r>
              <a:rPr lang="en-US" dirty="0"/>
              <a:t>, </a:t>
            </a:r>
            <a:r>
              <a:rPr lang="en-US" dirty="0" err="1"/>
              <a:t>развлечение</a:t>
            </a:r>
            <a:r>
              <a:rPr lang="en-US" dirty="0"/>
              <a:t>, </a:t>
            </a:r>
            <a:r>
              <a:rPr lang="en-US" dirty="0" err="1"/>
              <a:t>образование</a:t>
            </a:r>
            <a:r>
              <a:rPr lang="en-US" dirty="0"/>
              <a:t>, </a:t>
            </a:r>
            <a:r>
              <a:rPr lang="en-US" dirty="0" err="1"/>
              <a:t>профессиональное</a:t>
            </a:r>
            <a:r>
              <a:rPr lang="en-US" dirty="0"/>
              <a:t> </a:t>
            </a:r>
            <a:r>
              <a:rPr lang="en-US" dirty="0" err="1"/>
              <a:t>развитие</a:t>
            </a:r>
            <a:r>
              <a:rPr lang="ru-RU" dirty="0"/>
              <a:t>  как частных пользователей, так и корпоративных. 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094CB8C-310B-495E-91B0-08925EA7DA15}"/>
              </a:ext>
            </a:extLst>
          </p:cNvPr>
          <p:cNvSpPr/>
          <p:nvPr/>
        </p:nvSpPr>
        <p:spPr>
          <a:xfrm>
            <a:off x="659963" y="2807644"/>
            <a:ext cx="6410920" cy="1465778"/>
          </a:xfrm>
          <a:prstGeom prst="roundRect">
            <a:avLst>
              <a:gd name="adj" fmla="val 578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49787E5-79B2-4282-98FD-9584FD37AD24}"/>
              </a:ext>
            </a:extLst>
          </p:cNvPr>
          <p:cNvSpPr/>
          <p:nvPr/>
        </p:nvSpPr>
        <p:spPr>
          <a:xfrm>
            <a:off x="807126" y="3028017"/>
            <a:ext cx="2373987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B2C</a:t>
            </a:r>
            <a:endParaRPr lang="en-US" sz="18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F51AF0A-CEC5-4DAC-AE18-8EC0E0A12BDB}"/>
              </a:ext>
            </a:extLst>
          </p:cNvPr>
          <p:cNvSpPr/>
          <p:nvPr/>
        </p:nvSpPr>
        <p:spPr>
          <a:xfrm>
            <a:off x="807126" y="3441283"/>
            <a:ext cx="5992297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Потребительский контент: новости, статьи, развлекательные материалы для массового пользователя.</a:t>
            </a:r>
            <a:endParaRPr lang="en-US" sz="15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576DD67-D8AA-4492-BCE4-CB03FACCECEE}"/>
              </a:ext>
            </a:extLst>
          </p:cNvPr>
          <p:cNvSpPr/>
          <p:nvPr/>
        </p:nvSpPr>
        <p:spPr>
          <a:xfrm>
            <a:off x="659963" y="4476939"/>
            <a:ext cx="6410920" cy="1465778"/>
          </a:xfrm>
          <a:prstGeom prst="roundRect">
            <a:avLst>
              <a:gd name="adj" fmla="val 578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8CAEFF2-5374-4E44-B38A-43A8879E7734}"/>
              </a:ext>
            </a:extLst>
          </p:cNvPr>
          <p:cNvSpPr/>
          <p:nvPr/>
        </p:nvSpPr>
        <p:spPr>
          <a:xfrm>
            <a:off x="1016437" y="4895562"/>
            <a:ext cx="2373987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C2C</a:t>
            </a:r>
            <a:endParaRPr lang="en-US" sz="18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D965ABF-823F-433B-99E1-18B553CEFA18}"/>
              </a:ext>
            </a:extLst>
          </p:cNvPr>
          <p:cNvSpPr/>
          <p:nvPr/>
        </p:nvSpPr>
        <p:spPr>
          <a:xfrm>
            <a:off x="1016437" y="5308828"/>
            <a:ext cx="5992297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Пользовательский контент: комментарии, обзоры, </a:t>
            </a:r>
            <a:r>
              <a:rPr lang="en-US" sz="1550" dirty="0" err="1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форумы</a:t>
            </a:r>
            <a:endParaRPr lang="en-US" sz="15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BABD46F-F96B-4F8C-A631-3883671DE6C9}"/>
              </a:ext>
            </a:extLst>
          </p:cNvPr>
          <p:cNvSpPr/>
          <p:nvPr/>
        </p:nvSpPr>
        <p:spPr>
          <a:xfrm>
            <a:off x="6267990" y="3790701"/>
            <a:ext cx="5891787" cy="1453288"/>
          </a:xfrm>
          <a:prstGeom prst="roundRect">
            <a:avLst>
              <a:gd name="adj" fmla="val 578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4AC89FD-203C-45F7-8F5E-134F98F269E2}"/>
              </a:ext>
            </a:extLst>
          </p:cNvPr>
          <p:cNvSpPr/>
          <p:nvPr/>
        </p:nvSpPr>
        <p:spPr>
          <a:xfrm>
            <a:off x="6477301" y="3841976"/>
            <a:ext cx="2373987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B2B</a:t>
            </a:r>
            <a:endParaRPr lang="en-US" sz="18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CB48CA7-EE23-47E6-BD6F-837551109B12}"/>
              </a:ext>
            </a:extLst>
          </p:cNvPr>
          <p:cNvSpPr/>
          <p:nvPr/>
        </p:nvSpPr>
        <p:spPr>
          <a:xfrm>
            <a:off x="6477301" y="4255242"/>
            <a:ext cx="5992297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Аналитика, отраслевые отчёты, корпоративные подписки для бизнеса и профессиональных сообществ.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21901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69B8F-B412-408D-9C1D-C6FA6C31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800" y="222456"/>
            <a:ext cx="9603275" cy="1049235"/>
          </a:xfrm>
        </p:spPr>
        <p:txBody>
          <a:bodyPr>
            <a:normAutofit/>
          </a:bodyPr>
          <a:lstStyle/>
          <a:p>
            <a:r>
              <a:rPr lang="ru-RU" sz="2800" dirty="0"/>
              <a:t>Технология работы информационного портала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2AA36D-2577-46C4-B36C-7C8C72B19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535" y="1787942"/>
            <a:ext cx="3248528" cy="4051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портала</a:t>
            </a:r>
            <a:r>
              <a:rPr lang="en-US" dirty="0"/>
              <a:t> </a:t>
            </a:r>
            <a:r>
              <a:rPr lang="en-US" dirty="0" err="1"/>
              <a:t>строится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взаимодействии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, </a:t>
            </a:r>
            <a:r>
              <a:rPr lang="en-US" dirty="0" err="1"/>
              <a:t>обеспечивающих</a:t>
            </a:r>
            <a:r>
              <a:rPr lang="en-US" dirty="0"/>
              <a:t> </a:t>
            </a:r>
            <a:r>
              <a:rPr lang="en-US" dirty="0" err="1"/>
              <a:t>полный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 —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доставки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03D2431-4C35-4030-BA1C-1785BD54A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729211"/>
              </p:ext>
            </p:extLst>
          </p:nvPr>
        </p:nvGraphicFramePr>
        <p:xfrm>
          <a:off x="4064000" y="1033404"/>
          <a:ext cx="8128000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595115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692227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016149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81500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Операция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Участники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Выход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69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Создание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Любой пользователь с правом на создание информации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Текст, изображение, видео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Передача информации на модерацию или хранение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240845"/>
                  </a:ext>
                </a:extLst>
              </a:tr>
              <a:tr h="558890">
                <a:tc>
                  <a:txBody>
                    <a:bodyPr/>
                    <a:lstStyle/>
                    <a:p>
                      <a:r>
                        <a:rPr lang="ru-RU" dirty="0"/>
                        <a:t>Модерация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Модератор, администратор сайта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Полученная от пользователя информация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Принятое решение(отказ,  принятие и публикация)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17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Хранение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Сервер, администратор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Полученная от пользователя информация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Хранение информации на серверах сайта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83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Администратор, модератор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Полученная от пользователя информация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Размещенная информация на сайте(статья, комментарий и т.п)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532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08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0">
            <a:extLst>
              <a:ext uri="{FF2B5EF4-FFF2-40B4-BE49-F238E27FC236}">
                <a16:creationId xmlns:a16="http://schemas.microsoft.com/office/drawing/2014/main" id="{7F54045D-DE28-40EF-87FB-64D342DE2DAD}"/>
              </a:ext>
            </a:extLst>
          </p:cNvPr>
          <p:cNvSpPr/>
          <p:nvPr/>
        </p:nvSpPr>
        <p:spPr>
          <a:xfrm>
            <a:off x="11121" y="2064625"/>
            <a:ext cx="5777155" cy="4055188"/>
          </a:xfrm>
          <a:prstGeom prst="roundRect">
            <a:avLst>
              <a:gd name="adj" fmla="val 578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09701-1512-469B-A54E-C53EA18A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936" y="457954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Система</a:t>
            </a:r>
            <a:r>
              <a:rPr lang="en-US" sz="2800" dirty="0"/>
              <a:t> CRM</a:t>
            </a:r>
            <a:r>
              <a:rPr lang="en-US" sz="2800"/>
              <a:t>: управление клиентской базой</a:t>
            </a:r>
            <a:br>
              <a:rPr lang="en-US" sz="2800" dirty="0"/>
            </a:br>
            <a:endParaRPr lang="ru-RU" sz="28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2BE2B41-832C-4D00-AC1F-4E952BFB4009}"/>
              </a:ext>
            </a:extLst>
          </p:cNvPr>
          <p:cNvSpPr/>
          <p:nvPr/>
        </p:nvSpPr>
        <p:spPr>
          <a:xfrm>
            <a:off x="545901" y="2100262"/>
            <a:ext cx="309657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/>
              <a:t>Функции CRM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портале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FB8E262-9118-4452-A9A2-A238E210978B}"/>
              </a:ext>
            </a:extLst>
          </p:cNvPr>
          <p:cNvSpPr/>
          <p:nvPr/>
        </p:nvSpPr>
        <p:spPr>
          <a:xfrm>
            <a:off x="148405" y="2654785"/>
            <a:ext cx="6104811" cy="2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Сбор данных о поведении </a:t>
            </a:r>
            <a:r>
              <a:rPr lang="en-US" dirty="0" err="1"/>
              <a:t>пользователей</a:t>
            </a:r>
            <a:r>
              <a:rPr lang="en-US" dirty="0"/>
              <a:t> </a:t>
            </a:r>
            <a:endParaRPr lang="ru-RU" dirty="0"/>
          </a:p>
          <a:p>
            <a:pPr marL="342900" indent="-342900">
              <a:lnSpc>
                <a:spcPts val="2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(история просмотров, </a:t>
            </a:r>
            <a:r>
              <a:rPr lang="en-US" dirty="0" err="1"/>
              <a:t>кликов</a:t>
            </a:r>
            <a:r>
              <a:rPr lang="en-US" dirty="0"/>
              <a:t>)</a:t>
            </a:r>
          </a:p>
          <a:p>
            <a:pPr marL="342900" indent="-342900">
              <a:lnSpc>
                <a:spcPts val="2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Сегментация аудитории по интересам и </a:t>
            </a:r>
            <a:r>
              <a:rPr lang="en-US" dirty="0" err="1"/>
              <a:t>активности</a:t>
            </a:r>
            <a:endParaRPr lang="en-US" dirty="0"/>
          </a:p>
          <a:p>
            <a:pPr marL="342900" indent="-342900">
              <a:lnSpc>
                <a:spcPts val="2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Автоматизированные рассылки и push-</a:t>
            </a:r>
            <a:r>
              <a:rPr lang="en-US" dirty="0" err="1"/>
              <a:t>уведомления</a:t>
            </a:r>
            <a:endParaRPr lang="en-US" dirty="0"/>
          </a:p>
          <a:p>
            <a:pPr marL="342900" indent="-342900">
              <a:lnSpc>
                <a:spcPts val="2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Персонализация контента и </a:t>
            </a:r>
            <a:r>
              <a:rPr lang="en-US" dirty="0" err="1"/>
              <a:t>рекомендаций</a:t>
            </a:r>
            <a:endParaRPr lang="ru-RU" dirty="0"/>
          </a:p>
          <a:p>
            <a:pPr marL="342900" indent="-342900">
              <a:lnSpc>
                <a:spcPts val="24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dirty="0"/>
              <a:t>Возможность подписаться на рассылку</a:t>
            </a:r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0034951-7522-425D-8E47-7329E7B67BED}"/>
              </a:ext>
            </a:extLst>
          </p:cNvPr>
          <p:cNvSpPr/>
          <p:nvPr/>
        </p:nvSpPr>
        <p:spPr>
          <a:xfrm>
            <a:off x="5990159" y="2100262"/>
            <a:ext cx="622196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ru-RU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	</a:t>
            </a:r>
            <a:r>
              <a:rPr lang="en-US" dirty="0" err="1"/>
              <a:t>Ведущие</a:t>
            </a:r>
            <a:r>
              <a:rPr lang="en-US" dirty="0"/>
              <a:t> порталы используют платформы: Bitrix24, Salesforce, HubSpot, а также собственные разработки на базе ML-</a:t>
            </a:r>
            <a:r>
              <a:rPr lang="en-US" dirty="0" err="1"/>
              <a:t>алгоритмов</a:t>
            </a:r>
            <a:r>
              <a:rPr lang="en-US" dirty="0"/>
              <a:t>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7BD4BDE-2DA3-489B-9D7D-6FF22540CD05}"/>
              </a:ext>
            </a:extLst>
          </p:cNvPr>
          <p:cNvSpPr/>
          <p:nvPr/>
        </p:nvSpPr>
        <p:spPr>
          <a:xfrm>
            <a:off x="5970032" y="3277196"/>
            <a:ext cx="6221968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dirty="0"/>
              <a:t>	</a:t>
            </a:r>
            <a:r>
              <a:rPr lang="en-US" dirty="0"/>
              <a:t>CRM-</a:t>
            </a:r>
            <a:r>
              <a:rPr lang="en-US" dirty="0" err="1"/>
              <a:t>система</a:t>
            </a:r>
            <a:r>
              <a:rPr lang="en-US" dirty="0"/>
              <a:t> интегрируется с аналитическими модулями (Google Analytics, Яндекс.Метрика), рекламными кабинетами и платёжными шлюзами, формируя единый профиль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9B02CCE-A6C7-4BA3-9B39-91E6C8E6235B}"/>
              </a:ext>
            </a:extLst>
          </p:cNvPr>
          <p:cNvSpPr/>
          <p:nvPr/>
        </p:nvSpPr>
        <p:spPr>
          <a:xfrm>
            <a:off x="6390500" y="4870302"/>
            <a:ext cx="5331857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/>
              <a:t>Персонализация повышает удержание пользователей на 20–35% и увеличивает средний чек </a:t>
            </a:r>
            <a:r>
              <a:rPr lang="en-US" dirty="0" err="1"/>
              <a:t>подписки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94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36AEC9A4-1EA1-4E89-B971-AA907B7BAE09}"/>
              </a:ext>
            </a:extLst>
          </p:cNvPr>
          <p:cNvSpPr/>
          <p:nvPr/>
        </p:nvSpPr>
        <p:spPr>
          <a:xfrm>
            <a:off x="5953346" y="1306702"/>
            <a:ext cx="4315276" cy="36633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608C52EB-9DF1-4A99-AF52-9C864C781C2F}"/>
              </a:ext>
            </a:extLst>
          </p:cNvPr>
          <p:cNvSpPr/>
          <p:nvPr/>
        </p:nvSpPr>
        <p:spPr>
          <a:xfrm>
            <a:off x="-739602" y="1455654"/>
            <a:ext cx="7074568" cy="540234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66A3B-E25C-4FCC-9A81-7CE87922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661" y="169401"/>
            <a:ext cx="4597907" cy="6392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/>
              <a:t>Модели</a:t>
            </a:r>
            <a:r>
              <a:rPr lang="en-US" sz="2800" dirty="0"/>
              <a:t> </a:t>
            </a:r>
            <a:r>
              <a:rPr lang="en-US" sz="2800" dirty="0" err="1"/>
              <a:t>монетизации</a:t>
            </a:r>
            <a:endParaRPr lang="ru-RU" sz="28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E060291-3DBE-4FD7-A903-C3B0E9CBF0A3}"/>
              </a:ext>
            </a:extLst>
          </p:cNvPr>
          <p:cNvSpPr/>
          <p:nvPr/>
        </p:nvSpPr>
        <p:spPr>
          <a:xfrm>
            <a:off x="1879720" y="2330662"/>
            <a:ext cx="2149295" cy="317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 err="1"/>
              <a:t>Рекламные</a:t>
            </a:r>
            <a:r>
              <a:rPr lang="en-US" sz="2400" dirty="0"/>
              <a:t> </a:t>
            </a:r>
            <a:r>
              <a:rPr lang="en-US" sz="2400" dirty="0" err="1"/>
              <a:t>доходы</a:t>
            </a:r>
            <a:r>
              <a:rPr lang="ru-RU" sz="2400" dirty="0"/>
              <a:t> </a:t>
            </a:r>
            <a:r>
              <a:rPr lang="en-US" sz="2400" dirty="0"/>
              <a:t>&gt; 50 %</a:t>
            </a:r>
            <a:endParaRPr lang="ru-RU" sz="2400" dirty="0"/>
          </a:p>
          <a:p>
            <a:pPr marL="0" indent="0" algn="ctr">
              <a:lnSpc>
                <a:spcPts val="2150"/>
              </a:lnSpc>
              <a:buNone/>
            </a:pPr>
            <a:endParaRPr lang="ru-RU" sz="1750" dirty="0">
              <a:solidFill>
                <a:srgbClr val="2B3541"/>
              </a:solidFill>
              <a:latin typeface="Funnel Display" pitchFamily="34" charset="0"/>
              <a:ea typeface="Funnel Display" pitchFamily="34" charset="-122"/>
              <a:cs typeface="Funnel Display" pitchFamily="34" charset="-120"/>
            </a:endParaRPr>
          </a:p>
          <a:p>
            <a:pPr marL="0" indent="0" algn="ctr">
              <a:lnSpc>
                <a:spcPts val="2150"/>
              </a:lnSpc>
              <a:buNone/>
            </a:pPr>
            <a:endParaRPr lang="ru-RU" sz="1750" dirty="0">
              <a:solidFill>
                <a:srgbClr val="2B3541"/>
              </a:solidFill>
            </a:endParaRPr>
          </a:p>
          <a:p>
            <a:pPr marL="0" indent="0" algn="ctr">
              <a:lnSpc>
                <a:spcPts val="2150"/>
              </a:lnSpc>
              <a:buNone/>
            </a:pPr>
            <a:endParaRPr lang="en-US" sz="17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B841A-B6C5-42F7-8032-D59AB6E78728}"/>
              </a:ext>
            </a:extLst>
          </p:cNvPr>
          <p:cNvSpPr txBox="1"/>
          <p:nvPr/>
        </p:nvSpPr>
        <p:spPr>
          <a:xfrm>
            <a:off x="7133448" y="1605980"/>
            <a:ext cx="2414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Подписки</a:t>
            </a:r>
            <a:r>
              <a:rPr lang="en-US" sz="2000" dirty="0"/>
              <a:t> ~ 20 %</a:t>
            </a:r>
            <a:endParaRPr lang="ru-RU" sz="20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E1A2D55-283A-4892-8FB9-179462CC28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759"/>
          <a:stretch/>
        </p:blipFill>
        <p:spPr>
          <a:xfrm>
            <a:off x="6683519" y="2353397"/>
            <a:ext cx="2930382" cy="2030462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4183E7C-C046-4360-B276-D993A6828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68" y="2909315"/>
            <a:ext cx="4718973" cy="3568480"/>
          </a:xfrm>
          <a:prstGeom prst="rect">
            <a:avLst/>
          </a:prstGeom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60BF70B4-CE55-4DCD-95F5-03A495ACDCAE}"/>
              </a:ext>
            </a:extLst>
          </p:cNvPr>
          <p:cNvSpPr/>
          <p:nvPr/>
        </p:nvSpPr>
        <p:spPr>
          <a:xfrm>
            <a:off x="454746" y="784648"/>
            <a:ext cx="7148539" cy="6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 err="1"/>
              <a:t>Современные</a:t>
            </a:r>
            <a:r>
              <a:rPr lang="en-US" dirty="0"/>
              <a:t> информационные порталы диверсифицируют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дохода</a:t>
            </a:r>
            <a:r>
              <a:rPr lang="en-US" dirty="0"/>
              <a:t>,</a:t>
            </a:r>
            <a:endParaRPr lang="ru-RU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dirty="0"/>
              <a:t> снижая зависимость от одного канала </a:t>
            </a:r>
            <a:r>
              <a:rPr lang="en-US" dirty="0" err="1"/>
              <a:t>монетизации</a:t>
            </a:r>
            <a:r>
              <a:rPr lang="en-US" dirty="0"/>
              <a:t>.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2C0D996-3494-45AC-BD7C-357AE045AFCB}"/>
              </a:ext>
            </a:extLst>
          </p:cNvPr>
          <p:cNvSpPr/>
          <p:nvPr/>
        </p:nvSpPr>
        <p:spPr>
          <a:xfrm>
            <a:off x="8110984" y="3960862"/>
            <a:ext cx="3899267" cy="326217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CFFD5-064B-4D93-971E-086FC7B4859F}"/>
              </a:ext>
            </a:extLst>
          </p:cNvPr>
          <p:cNvSpPr txBox="1"/>
          <p:nvPr/>
        </p:nvSpPr>
        <p:spPr>
          <a:xfrm>
            <a:off x="9214531" y="4169913"/>
            <a:ext cx="228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Партнерские программы</a:t>
            </a:r>
            <a:r>
              <a:rPr lang="en-US" dirty="0"/>
              <a:t> ~ 10 %</a:t>
            </a:r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C031F08-935A-459A-899D-EC5D3ED8C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43" y="4929205"/>
            <a:ext cx="3673642" cy="164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4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10BFF-D282-455B-BCDC-0CD6DD1B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958" y="499718"/>
            <a:ext cx="3713977" cy="1049235"/>
          </a:xfrm>
        </p:spPr>
        <p:txBody>
          <a:bodyPr/>
          <a:lstStyle/>
          <a:p>
            <a:r>
              <a:rPr lang="ru-RU" sz="2800" dirty="0"/>
              <a:t>Прогноз</a:t>
            </a:r>
            <a:r>
              <a:rPr lang="ru-RU" dirty="0"/>
              <a:t> доходов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9B40EA-2C86-4BB0-BD3A-4FA90CD41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90162" cy="3450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1800" dirty="0"/>
              <a:t>	</a:t>
            </a:r>
            <a:r>
              <a:rPr lang="en-US" sz="1800" dirty="0" err="1"/>
              <a:t>Российская</a:t>
            </a:r>
            <a:r>
              <a:rPr lang="en-US" sz="1800" dirty="0"/>
              <a:t> </a:t>
            </a:r>
            <a:r>
              <a:rPr lang="en-US" sz="1800" dirty="0" err="1"/>
              <a:t>медиасфера</a:t>
            </a:r>
            <a:r>
              <a:rPr lang="en-US" sz="1800" dirty="0"/>
              <a:t> </a:t>
            </a:r>
            <a:r>
              <a:rPr lang="en-US" sz="1800" dirty="0" err="1"/>
              <a:t>демонстрирует</a:t>
            </a:r>
            <a:r>
              <a:rPr lang="en-US" sz="1800" dirty="0"/>
              <a:t> </a:t>
            </a:r>
            <a:r>
              <a:rPr lang="en-US" sz="1800" dirty="0" err="1"/>
              <a:t>динамичный</a:t>
            </a:r>
            <a:r>
              <a:rPr lang="en-US" sz="1800" dirty="0"/>
              <a:t> </a:t>
            </a:r>
            <a:r>
              <a:rPr lang="en-US" sz="1800" dirty="0" err="1"/>
              <a:t>рост</a:t>
            </a:r>
            <a:r>
              <a:rPr lang="en-US" sz="1800" dirty="0"/>
              <a:t>, с </a:t>
            </a:r>
            <a:r>
              <a:rPr lang="en-US" sz="1800" dirty="0" err="1"/>
              <a:t>ежедневным</a:t>
            </a:r>
            <a:r>
              <a:rPr lang="en-US" sz="1800" dirty="0"/>
              <a:t> </a:t>
            </a:r>
            <a:r>
              <a:rPr lang="en-US" sz="1800" dirty="0" err="1"/>
              <a:t>публикованием</a:t>
            </a:r>
            <a:r>
              <a:rPr lang="en-US" sz="1800" dirty="0"/>
              <a:t> </a:t>
            </a:r>
            <a:r>
              <a:rPr lang="en-US" sz="1800" dirty="0" err="1"/>
              <a:t>около</a:t>
            </a:r>
            <a:r>
              <a:rPr lang="en-US" sz="1800" dirty="0"/>
              <a:t> 47 </a:t>
            </a:r>
            <a:r>
              <a:rPr lang="en-US" sz="1800" dirty="0" err="1"/>
              <a:t>тысяч</a:t>
            </a:r>
            <a:r>
              <a:rPr lang="en-US" sz="1800" dirty="0"/>
              <a:t> </a:t>
            </a:r>
            <a:r>
              <a:rPr lang="en-US" sz="1800" dirty="0" err="1"/>
              <a:t>новостных</a:t>
            </a:r>
            <a:r>
              <a:rPr lang="en-US" sz="1800" dirty="0"/>
              <a:t> </a:t>
            </a:r>
            <a:r>
              <a:rPr lang="en-US" sz="1800" dirty="0" err="1"/>
              <a:t>сообщений</a:t>
            </a:r>
            <a:r>
              <a:rPr lang="en-US" sz="1800" dirty="0"/>
              <a:t>. </a:t>
            </a:r>
            <a:r>
              <a:rPr lang="ru-RU" sz="1800" dirty="0"/>
              <a:t>Общий объем рекламного рынка России в 2025 году достиг отметки в 981,6 млрд руб., что на 8,6% больше показателей предыдущего </a:t>
            </a:r>
            <a:r>
              <a:rPr lang="ru-RU" sz="1800" dirty="0" err="1"/>
              <a:t>года.В</a:t>
            </a:r>
            <a:r>
              <a:rPr lang="ru-RU" sz="1800" dirty="0"/>
              <a:t> 2024 году рост инвестиций в рекламу оценивался в 24%: суммарный объем рынка тогда составлял 904 млрд руб.</a:t>
            </a:r>
          </a:p>
          <a:p>
            <a:pPr marL="0" indent="0" algn="just">
              <a:buNone/>
            </a:pPr>
            <a:r>
              <a:rPr lang="ru-RU" sz="1800" dirty="0"/>
              <a:t>Эксперты ожидают, что в 2026 году объем рекламного рынка в России увеличится на 6–15% по отношению к 2025 году и составит от 1 до 1,4 трлн руб. без учета НДС.</a:t>
            </a:r>
          </a:p>
          <a:p>
            <a:pPr marL="342900" indent="-342900" algn="just">
              <a:lnSpc>
                <a:spcPts val="2100"/>
              </a:lnSpc>
              <a:buSzPct val="100000"/>
              <a:buChar char="•"/>
            </a:pPr>
            <a:r>
              <a:rPr lang="en-US" sz="1800" dirty="0" err="1"/>
              <a:t>Рекламная</a:t>
            </a:r>
            <a:r>
              <a:rPr lang="en-US" sz="1800" dirty="0"/>
              <a:t> </a:t>
            </a:r>
            <a:r>
              <a:rPr lang="en-US" sz="1800" dirty="0" err="1"/>
              <a:t>выручка</a:t>
            </a:r>
            <a:r>
              <a:rPr lang="en-US" sz="1800" dirty="0"/>
              <a:t> </a:t>
            </a:r>
            <a:r>
              <a:rPr lang="en-US" sz="1800" dirty="0" err="1"/>
              <a:t>Яндекса</a:t>
            </a:r>
            <a:r>
              <a:rPr lang="en-US" sz="1800" dirty="0"/>
              <a:t>: 449,1 </a:t>
            </a:r>
            <a:r>
              <a:rPr lang="en-US" sz="1800" dirty="0" err="1"/>
              <a:t>млрд</a:t>
            </a:r>
            <a:r>
              <a:rPr lang="en-US" sz="1800" dirty="0"/>
              <a:t> </a:t>
            </a:r>
            <a:r>
              <a:rPr lang="en-US" sz="1800" dirty="0" err="1"/>
              <a:t>рублей</a:t>
            </a:r>
            <a:r>
              <a:rPr lang="en-US" sz="1800" dirty="0"/>
              <a:t> (+13,5% </a:t>
            </a:r>
            <a:r>
              <a:rPr lang="en-US" sz="1800" dirty="0" err="1"/>
              <a:t>год</a:t>
            </a:r>
            <a:r>
              <a:rPr lang="en-US" sz="1800" dirty="0"/>
              <a:t> к </a:t>
            </a:r>
            <a:r>
              <a:rPr lang="en-US" sz="1800" dirty="0" err="1"/>
              <a:t>году</a:t>
            </a:r>
            <a:r>
              <a:rPr lang="en-US" sz="1800" dirty="0"/>
              <a:t>)</a:t>
            </a:r>
          </a:p>
          <a:p>
            <a:pPr marL="342900" indent="-342900" algn="just">
              <a:lnSpc>
                <a:spcPts val="2100"/>
              </a:lnSpc>
              <a:buSzPct val="100000"/>
              <a:buChar char="•"/>
            </a:pPr>
            <a:r>
              <a:rPr lang="en-US" sz="1800" dirty="0" err="1"/>
              <a:t>Подписочная</a:t>
            </a:r>
            <a:r>
              <a:rPr lang="en-US" sz="1800" dirty="0"/>
              <a:t> </a:t>
            </a:r>
            <a:r>
              <a:rPr lang="en-US" sz="1800" dirty="0" err="1"/>
              <a:t>выручка</a:t>
            </a:r>
            <a:r>
              <a:rPr lang="en-US" sz="1800" dirty="0"/>
              <a:t> (</a:t>
            </a:r>
            <a:r>
              <a:rPr lang="en-US" sz="1800" dirty="0" err="1"/>
              <a:t>Яндекс</a:t>
            </a:r>
            <a:r>
              <a:rPr lang="en-US" sz="1800" dirty="0"/>
              <a:t> </a:t>
            </a:r>
            <a:r>
              <a:rPr lang="en-US" sz="1800" dirty="0" err="1"/>
              <a:t>Плюс</a:t>
            </a:r>
            <a:r>
              <a:rPr lang="en-US" sz="1800" dirty="0"/>
              <a:t>): 89,8 </a:t>
            </a:r>
            <a:r>
              <a:rPr lang="en-US" sz="1800" dirty="0" err="1"/>
              <a:t>млрд</a:t>
            </a:r>
            <a:r>
              <a:rPr lang="en-US" sz="1800" dirty="0"/>
              <a:t> </a:t>
            </a:r>
            <a:r>
              <a:rPr lang="en-US" sz="1800" dirty="0" err="1"/>
              <a:t>рублей</a:t>
            </a:r>
            <a:r>
              <a:rPr lang="en-US" sz="1800" dirty="0"/>
              <a:t> (+44,9%)</a:t>
            </a:r>
          </a:p>
          <a:p>
            <a:pPr marL="0" indent="0" algn="just">
              <a:lnSpc>
                <a:spcPts val="2100"/>
              </a:lnSpc>
              <a:buNone/>
            </a:pPr>
            <a:r>
              <a:rPr lang="en-US" sz="1800" dirty="0"/>
              <a:t>	</a:t>
            </a:r>
            <a:r>
              <a:rPr lang="ru-RU" sz="1800" dirty="0"/>
              <a:t>Р</a:t>
            </a:r>
            <a:r>
              <a:rPr lang="en-US" sz="1800" dirty="0" err="1"/>
              <a:t>оссийские</a:t>
            </a:r>
            <a:r>
              <a:rPr lang="en-US" sz="1800" dirty="0"/>
              <a:t> </a:t>
            </a:r>
            <a:r>
              <a:rPr lang="en-US" sz="1800" dirty="0" err="1"/>
              <a:t>издания</a:t>
            </a:r>
            <a:r>
              <a:rPr lang="en-US" sz="1800" dirty="0"/>
              <a:t> </a:t>
            </a:r>
            <a:r>
              <a:rPr lang="en-US" sz="1800" dirty="0" err="1"/>
              <a:t>активно</a:t>
            </a:r>
            <a:r>
              <a:rPr lang="en-US" sz="1800" dirty="0"/>
              <a:t> </a:t>
            </a:r>
            <a:r>
              <a:rPr lang="en-US" sz="1800" dirty="0" err="1"/>
              <a:t>развивают</a:t>
            </a:r>
            <a:r>
              <a:rPr lang="en-US" sz="1800" dirty="0"/>
              <a:t> </a:t>
            </a:r>
            <a:r>
              <a:rPr lang="en-US" sz="1800" dirty="0" err="1"/>
              <a:t>подписочные</a:t>
            </a:r>
            <a:r>
              <a:rPr lang="en-US" sz="1800" dirty="0"/>
              <a:t> </a:t>
            </a:r>
            <a:r>
              <a:rPr lang="en-US" sz="1800" dirty="0" err="1"/>
              <a:t>модели</a:t>
            </a:r>
            <a:r>
              <a:rPr lang="en-US" sz="1800" dirty="0"/>
              <a:t> и </a:t>
            </a:r>
            <a:r>
              <a:rPr lang="en-US" sz="1800" dirty="0" err="1"/>
              <a:t>нативную</a:t>
            </a:r>
            <a:r>
              <a:rPr lang="en-US" sz="1800" dirty="0"/>
              <a:t> </a:t>
            </a:r>
            <a:r>
              <a:rPr lang="en-US" sz="1800" dirty="0" err="1"/>
              <a:t>рекламу</a:t>
            </a:r>
            <a:r>
              <a:rPr lang="en-US" sz="1800" dirty="0"/>
              <a:t>, </a:t>
            </a:r>
            <a:r>
              <a:rPr lang="en-US" sz="1800" dirty="0" err="1"/>
              <a:t>следуя</a:t>
            </a:r>
            <a:r>
              <a:rPr lang="en-US" sz="1800" dirty="0"/>
              <a:t> </a:t>
            </a:r>
            <a:r>
              <a:rPr lang="en-US" sz="1800" dirty="0" err="1"/>
              <a:t>глобальным</a:t>
            </a:r>
            <a:r>
              <a:rPr lang="en-US" sz="1800" dirty="0"/>
              <a:t> </a:t>
            </a:r>
            <a:r>
              <a:rPr lang="en-US" sz="1800" dirty="0" err="1"/>
              <a:t>тенденциям</a:t>
            </a:r>
            <a:r>
              <a:rPr lang="en-US" sz="1800" dirty="0"/>
              <a:t>. </a:t>
            </a:r>
            <a:r>
              <a:rPr lang="en-US" sz="1800" dirty="0" err="1"/>
              <a:t>Рост</a:t>
            </a:r>
            <a:r>
              <a:rPr lang="en-US" sz="1800" dirty="0"/>
              <a:t> </a:t>
            </a:r>
            <a:r>
              <a:rPr lang="en-US" sz="1800" dirty="0" err="1"/>
              <a:t>подписок</a:t>
            </a:r>
            <a:r>
              <a:rPr lang="en-US" sz="1800" dirty="0"/>
              <a:t> </a:t>
            </a:r>
            <a:r>
              <a:rPr lang="en-US" sz="1800" dirty="0" err="1"/>
              <a:t>на</a:t>
            </a:r>
            <a:r>
              <a:rPr lang="en-US" sz="1800" dirty="0"/>
              <a:t> 45% в </a:t>
            </a:r>
            <a:r>
              <a:rPr lang="en-US" sz="1800" dirty="0" err="1"/>
              <a:t>год</a:t>
            </a:r>
            <a:r>
              <a:rPr lang="en-US" sz="1800" dirty="0"/>
              <a:t> </a:t>
            </a:r>
            <a:r>
              <a:rPr lang="en-US" sz="1800" dirty="0" err="1"/>
              <a:t>указывает</a:t>
            </a:r>
            <a:r>
              <a:rPr lang="en-US" sz="1800" dirty="0"/>
              <a:t> </a:t>
            </a:r>
            <a:r>
              <a:rPr lang="en-US" sz="1800" dirty="0" err="1"/>
              <a:t>на</a:t>
            </a:r>
            <a:r>
              <a:rPr lang="en-US" sz="1800" dirty="0"/>
              <a:t> </a:t>
            </a:r>
            <a:r>
              <a:rPr lang="en-US" sz="1800" dirty="0" err="1"/>
              <a:t>успешную</a:t>
            </a:r>
            <a:r>
              <a:rPr lang="en-US" sz="1800" dirty="0"/>
              <a:t> </a:t>
            </a:r>
            <a:r>
              <a:rPr lang="en-US" sz="1800" dirty="0" err="1"/>
              <a:t>монетизацию</a:t>
            </a:r>
            <a:r>
              <a:rPr lang="en-US" sz="1800" dirty="0"/>
              <a:t> </a:t>
            </a:r>
            <a:r>
              <a:rPr lang="en-US" sz="1800" dirty="0" err="1"/>
              <a:t>премиум-контента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564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53C4F-B3A5-4E45-8094-4AEFBC77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875" y="454107"/>
            <a:ext cx="3918683" cy="1049235"/>
          </a:xfrm>
        </p:spPr>
        <p:txBody>
          <a:bodyPr>
            <a:normAutofit/>
          </a:bodyPr>
          <a:lstStyle/>
          <a:p>
            <a:r>
              <a:rPr lang="en-US" sz="2800" dirty="0" err="1"/>
              <a:t>Рекламная</a:t>
            </a: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</a:t>
            </a:r>
            <a:r>
              <a:rPr lang="en-US" sz="2800" dirty="0" err="1"/>
              <a:t>стратегия</a:t>
            </a:r>
            <a:endParaRPr lang="ru-RU" sz="28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EB627FB7-0300-4634-9D21-801AD4854A78}"/>
              </a:ext>
            </a:extLst>
          </p:cNvPr>
          <p:cNvSpPr/>
          <p:nvPr/>
        </p:nvSpPr>
        <p:spPr>
          <a:xfrm>
            <a:off x="667489" y="2019324"/>
            <a:ext cx="2075711" cy="2781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ru-RU" sz="2000" dirty="0"/>
              <a:t>Нативная реклама</a:t>
            </a:r>
            <a:endParaRPr lang="en-US" sz="2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9C2101B-428A-40D3-A6EA-D317B06729A8}"/>
              </a:ext>
            </a:extLst>
          </p:cNvPr>
          <p:cNvSpPr/>
          <p:nvPr/>
        </p:nvSpPr>
        <p:spPr>
          <a:xfrm>
            <a:off x="4556959" y="1880259"/>
            <a:ext cx="2075711" cy="2781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ru-RU" sz="2000" dirty="0" err="1">
                <a:solidFill>
                  <a:schemeClr val="dk1"/>
                </a:solidFill>
              </a:rPr>
              <a:t>Тизерная</a:t>
            </a:r>
            <a:r>
              <a:rPr lang="ru-RU" sz="2000" dirty="0">
                <a:solidFill>
                  <a:schemeClr val="dk1"/>
                </a:solidFill>
              </a:rPr>
              <a:t> реклама</a:t>
            </a:r>
            <a:endParaRPr lang="en-US" sz="2000" dirty="0">
              <a:solidFill>
                <a:schemeClr val="dk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BC65A1-55A7-4175-B7E3-5BCD8DB33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19" y="2238603"/>
            <a:ext cx="2842900" cy="16620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A3BC2F-E713-47BD-B1DE-967091656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4629"/>
            <a:ext cx="3918683" cy="411095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AF0439-B1AE-47C5-A4F5-E6AFC5F69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286" y="4701175"/>
            <a:ext cx="4183427" cy="2079288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54BF82F9-CBDD-4CB4-9523-5E9F2C1FC3C8}"/>
              </a:ext>
            </a:extLst>
          </p:cNvPr>
          <p:cNvSpPr/>
          <p:nvPr/>
        </p:nvSpPr>
        <p:spPr>
          <a:xfrm>
            <a:off x="4468357" y="3977517"/>
            <a:ext cx="2416537" cy="335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ru-RU" sz="2000" dirty="0">
                <a:solidFill>
                  <a:schemeClr val="dk1"/>
                </a:solidFill>
              </a:rPr>
              <a:t>Контекстная реклама</a:t>
            </a: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CA3A46D-FEC7-4F74-B214-F1E6F6BB4E5F}"/>
              </a:ext>
            </a:extLst>
          </p:cNvPr>
          <p:cNvSpPr/>
          <p:nvPr/>
        </p:nvSpPr>
        <p:spPr>
          <a:xfrm>
            <a:off x="7445105" y="1934457"/>
            <a:ext cx="4987187" cy="95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Приоритет отдаётся </a:t>
            </a:r>
            <a:r>
              <a:rPr lang="en-US" sz="14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нативной и контекстной рекламе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они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обеспечивают максимальную вовлечённость и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минимальное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раздражение аудитории.</a:t>
            </a:r>
            <a:endParaRPr lang="en-US" sz="14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5FFC21C0-4CF8-4A61-B3D2-92645899D9F9}"/>
              </a:ext>
            </a:extLst>
          </p:cNvPr>
          <p:cNvSpPr/>
          <p:nvPr/>
        </p:nvSpPr>
        <p:spPr>
          <a:xfrm>
            <a:off x="7434568" y="2743937"/>
            <a:ext cx="4343301" cy="80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400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Средний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CTR баннерной рекламы — </a:t>
            </a:r>
            <a:r>
              <a:rPr lang="en-US" sz="14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0,05–0,1%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нативной — </a:t>
            </a:r>
            <a:r>
              <a:rPr lang="en-US" sz="14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0,3–0,5%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0EB5018-1FD3-42FC-AD4D-3AB951C28D7F}"/>
              </a:ext>
            </a:extLst>
          </p:cNvPr>
          <p:cNvSpPr/>
          <p:nvPr/>
        </p:nvSpPr>
        <p:spPr>
          <a:xfrm>
            <a:off x="7445105" y="3837638"/>
            <a:ext cx="4458270" cy="95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Дизайн рекламных блоков </a:t>
            </a:r>
            <a:r>
              <a:rPr lang="en-US" sz="1400" dirty="0" err="1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должен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соответствовать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визуальной идентичности портала,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нарушая пользовательский опыт.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5306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D10F7-0914-4BA1-AAA5-3B0280911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dirty="0" err="1"/>
              <a:t>Оценка</a:t>
            </a:r>
            <a:r>
              <a:rPr lang="en-US" sz="3100" dirty="0"/>
              <a:t> </a:t>
            </a:r>
            <a:r>
              <a:rPr lang="en-US" sz="3100" dirty="0" err="1"/>
              <a:t>информационного</a:t>
            </a:r>
            <a:r>
              <a:rPr lang="en-US" sz="3100" dirty="0"/>
              <a:t> </a:t>
            </a:r>
            <a:r>
              <a:rPr lang="en-US" sz="3100" dirty="0" err="1"/>
              <a:t>наполнения</a:t>
            </a:r>
            <a:r>
              <a:rPr lang="en-US" sz="3100" dirty="0"/>
              <a:t> </a:t>
            </a:r>
            <a:r>
              <a:rPr lang="en-US" sz="3100" dirty="0" err="1"/>
              <a:t>портала</a:t>
            </a:r>
            <a:br>
              <a:rPr lang="en-US" sz="4400" dirty="0"/>
            </a:br>
            <a:endParaRPr lang="ru-RU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9917639-9EA5-4C91-932E-35A43BC9103C}"/>
              </a:ext>
            </a:extLst>
          </p:cNvPr>
          <p:cNvSpPr/>
          <p:nvPr/>
        </p:nvSpPr>
        <p:spPr>
          <a:xfrm>
            <a:off x="152400" y="22074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 err="1"/>
              <a:t>Виды</a:t>
            </a:r>
            <a:r>
              <a:rPr lang="en-US" sz="2400" dirty="0"/>
              <a:t> </a:t>
            </a:r>
            <a:r>
              <a:rPr lang="en-US" sz="2400" dirty="0" err="1"/>
              <a:t>контента</a:t>
            </a:r>
            <a:endParaRPr lang="en-US" sz="24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AD06006-A03D-47C2-9D74-755C9C109385}"/>
              </a:ext>
            </a:extLst>
          </p:cNvPr>
          <p:cNvSpPr/>
          <p:nvPr/>
        </p:nvSpPr>
        <p:spPr>
          <a:xfrm>
            <a:off x="3630378" y="2027426"/>
            <a:ext cx="9241499" cy="91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600" dirty="0">
                <a:solidFill>
                  <a:srgbClr val="2B3541"/>
                </a:solidFill>
              </a:rPr>
              <a:t>Н</a:t>
            </a:r>
            <a:r>
              <a:rPr lang="en-US" dirty="0" err="1"/>
              <a:t>овости</a:t>
            </a:r>
            <a:r>
              <a:rPr lang="en-US" dirty="0"/>
              <a:t>, </a:t>
            </a:r>
            <a:r>
              <a:rPr lang="en-US" dirty="0" err="1"/>
              <a:t>аналитика</a:t>
            </a:r>
            <a:r>
              <a:rPr lang="en-US" dirty="0"/>
              <a:t>, </a:t>
            </a:r>
            <a:r>
              <a:rPr lang="en-US" dirty="0" err="1"/>
              <a:t>интервью</a:t>
            </a:r>
            <a:r>
              <a:rPr lang="en-US" dirty="0"/>
              <a:t>, </a:t>
            </a:r>
            <a:r>
              <a:rPr lang="en-US" dirty="0" err="1"/>
              <a:t>видео</a:t>
            </a:r>
            <a:r>
              <a:rPr lang="en-US" dirty="0"/>
              <a:t>, </a:t>
            </a:r>
            <a:r>
              <a:rPr lang="en-US" dirty="0" err="1"/>
              <a:t>инфографика</a:t>
            </a:r>
            <a:r>
              <a:rPr lang="en-US" dirty="0"/>
              <a:t>, </a:t>
            </a:r>
            <a:r>
              <a:rPr lang="en-US" dirty="0" err="1"/>
              <a:t>подкасты</a:t>
            </a:r>
            <a:r>
              <a:rPr lang="en-US" dirty="0"/>
              <a:t>. </a:t>
            </a:r>
            <a:r>
              <a:rPr lang="en-US" dirty="0" err="1"/>
              <a:t>Разнообразие</a:t>
            </a:r>
            <a:r>
              <a:rPr lang="en-US" dirty="0"/>
              <a:t> </a:t>
            </a:r>
            <a:r>
              <a:rPr lang="en-US" dirty="0" err="1"/>
              <a:t>форматов</a:t>
            </a:r>
            <a:r>
              <a:rPr lang="en-US" dirty="0"/>
              <a:t> </a:t>
            </a:r>
            <a:endParaRPr lang="ru-RU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dirty="0" err="1"/>
              <a:t>повышает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сайте</a:t>
            </a:r>
            <a:r>
              <a:rPr lang="en-US" dirty="0"/>
              <a:t> и </a:t>
            </a:r>
            <a:r>
              <a:rPr lang="en-US" dirty="0" err="1"/>
              <a:t>охват</a:t>
            </a:r>
            <a:r>
              <a:rPr lang="en-US" dirty="0"/>
              <a:t> </a:t>
            </a:r>
            <a:r>
              <a:rPr lang="en-US" dirty="0" err="1"/>
              <a:t>аудитории</a:t>
            </a:r>
            <a:r>
              <a:rPr lang="en-US" dirty="0"/>
              <a:t>.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0E72306-A1CB-4D11-B1D8-D273BA930B05}"/>
              </a:ext>
            </a:extLst>
          </p:cNvPr>
          <p:cNvSpPr/>
          <p:nvPr/>
        </p:nvSpPr>
        <p:spPr>
          <a:xfrm>
            <a:off x="170509" y="314362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 err="1"/>
              <a:t>Достоверность</a:t>
            </a:r>
            <a:endParaRPr lang="en-US" sz="2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DDE8728F-419D-4FBE-AD9B-CE5BC0A80B3D}"/>
              </a:ext>
            </a:extLst>
          </p:cNvPr>
          <p:cNvSpPr/>
          <p:nvPr/>
        </p:nvSpPr>
        <p:spPr>
          <a:xfrm>
            <a:off x="3630378" y="2937501"/>
            <a:ext cx="8801527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/>
              <a:t>Репутация портала напрямую зависит от качества фактчекинга. Ведущие </a:t>
            </a:r>
            <a:r>
              <a:rPr lang="en-US" dirty="0" err="1"/>
              <a:t>издания</a:t>
            </a:r>
            <a:r>
              <a:rPr lang="en-US" dirty="0"/>
              <a:t> </a:t>
            </a:r>
            <a:endParaRPr lang="ru-RU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dirty="0" err="1"/>
              <a:t>имеют</a:t>
            </a:r>
            <a:r>
              <a:rPr lang="en-US" dirty="0"/>
              <a:t> редакционные стандарты и отделы </a:t>
            </a:r>
            <a:r>
              <a:rPr lang="en-US" dirty="0" err="1"/>
              <a:t>верификации</a:t>
            </a:r>
            <a:r>
              <a:rPr lang="en-US" dirty="0"/>
              <a:t>.</a:t>
            </a: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02EDAF8-4057-4A9F-AD87-743629698AF4}"/>
              </a:ext>
            </a:extLst>
          </p:cNvPr>
          <p:cNvSpPr/>
          <p:nvPr/>
        </p:nvSpPr>
        <p:spPr>
          <a:xfrm>
            <a:off x="170509" y="3911216"/>
            <a:ext cx="263806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dirty="0" err="1"/>
              <a:t>Скорость</a:t>
            </a:r>
            <a:r>
              <a:rPr lang="en-US" sz="2400" dirty="0"/>
              <a:t> </a:t>
            </a:r>
            <a:r>
              <a:rPr lang="en-US" sz="2400" dirty="0" err="1"/>
              <a:t>обновления</a:t>
            </a:r>
            <a:endParaRPr lang="en-US" sz="24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06189B2F-13F9-40DB-8BCA-832A612F74EC}"/>
              </a:ext>
            </a:extLst>
          </p:cNvPr>
          <p:cNvSpPr/>
          <p:nvPr/>
        </p:nvSpPr>
        <p:spPr>
          <a:xfrm>
            <a:off x="3630378" y="3742108"/>
            <a:ext cx="8982964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dirty="0"/>
              <a:t>Оперативность — ключевой конкурентный фактор. Лидеры рынка обновляют ленту каждые 2–5 минут в режиме реального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5F27DC7B-A109-4E07-85D7-679877C14B6C}"/>
              </a:ext>
            </a:extLst>
          </p:cNvPr>
          <p:cNvSpPr/>
          <p:nvPr/>
        </p:nvSpPr>
        <p:spPr>
          <a:xfrm>
            <a:off x="152400" y="4734373"/>
            <a:ext cx="292203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400"/>
              </a:lnSpc>
              <a:buNone/>
            </a:pPr>
            <a:r>
              <a:rPr lang="en-US" sz="2400" dirty="0" err="1"/>
              <a:t>Сегментация</a:t>
            </a:r>
            <a:r>
              <a:rPr lang="en-US" sz="2400" dirty="0"/>
              <a:t> </a:t>
            </a:r>
            <a:r>
              <a:rPr lang="en-US" sz="2400" dirty="0" err="1"/>
              <a:t>аудитории</a:t>
            </a:r>
            <a:endParaRPr lang="en-US" sz="24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28AE415F-5D47-458D-AA21-FF9FC2D53469}"/>
              </a:ext>
            </a:extLst>
          </p:cNvPr>
          <p:cNvSpPr/>
          <p:nvPr/>
        </p:nvSpPr>
        <p:spPr>
          <a:xfrm>
            <a:off x="3630144" y="4607531"/>
            <a:ext cx="8801761" cy="95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600"/>
              </a:lnSpc>
              <a:buNone/>
            </a:pPr>
            <a:r>
              <a:rPr lang="en-US" dirty="0"/>
              <a:t>Контент адаптируется под B2B-профессионалов, массового потребителя, экспертов и государственных служащих — каждый сегмент имеет свои </a:t>
            </a:r>
            <a:r>
              <a:rPr lang="en-US" dirty="0" err="1"/>
              <a:t>рубрики</a:t>
            </a:r>
            <a:r>
              <a:rPr lang="en-US" dirty="0"/>
              <a:t>.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96614BA8-1F23-4C84-A3C3-DE77CC28A6C9}"/>
              </a:ext>
            </a:extLst>
          </p:cNvPr>
          <p:cNvCxnSpPr>
            <a:cxnSpLocks/>
          </p:cNvCxnSpPr>
          <p:nvPr/>
        </p:nvCxnSpPr>
        <p:spPr>
          <a:xfrm>
            <a:off x="2133600" y="2361449"/>
            <a:ext cx="1496544" cy="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A76C2C00-A703-4D88-96A5-DFB0D186537B}"/>
              </a:ext>
            </a:extLst>
          </p:cNvPr>
          <p:cNvCxnSpPr>
            <a:cxnSpLocks/>
          </p:cNvCxnSpPr>
          <p:nvPr/>
        </p:nvCxnSpPr>
        <p:spPr>
          <a:xfrm flipV="1">
            <a:off x="2133600" y="3290491"/>
            <a:ext cx="1492014" cy="15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A6384658-EA69-4080-B410-DE47C7051583}"/>
              </a:ext>
            </a:extLst>
          </p:cNvPr>
          <p:cNvCxnSpPr>
            <a:cxnSpLocks/>
          </p:cNvCxnSpPr>
          <p:nvPr/>
        </p:nvCxnSpPr>
        <p:spPr>
          <a:xfrm>
            <a:off x="3074432" y="4065223"/>
            <a:ext cx="551182" cy="11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7188A5E4-ACA1-4D93-B953-8671DBBBF751}"/>
              </a:ext>
            </a:extLst>
          </p:cNvPr>
          <p:cNvCxnSpPr>
            <a:cxnSpLocks/>
          </p:cNvCxnSpPr>
          <p:nvPr/>
        </p:nvCxnSpPr>
        <p:spPr>
          <a:xfrm>
            <a:off x="3356906" y="4921912"/>
            <a:ext cx="268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80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8AB69-FCAB-4416-AB5D-2A71C4A9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7776" y="397564"/>
            <a:ext cx="9603275" cy="1049235"/>
          </a:xfrm>
        </p:spPr>
        <p:txBody>
          <a:bodyPr>
            <a:normAutofit/>
          </a:bodyPr>
          <a:lstStyle/>
          <a:p>
            <a:r>
              <a:rPr lang="en-US" sz="3100" dirty="0" err="1"/>
              <a:t>Схемы</a:t>
            </a:r>
            <a:r>
              <a:rPr lang="en-US" sz="3100" dirty="0"/>
              <a:t> </a:t>
            </a:r>
            <a:r>
              <a:rPr lang="en-US" sz="3100" dirty="0" err="1"/>
              <a:t>предоставления</a:t>
            </a:r>
            <a:r>
              <a:rPr lang="en-US" sz="3100" dirty="0"/>
              <a:t> </a:t>
            </a:r>
            <a:r>
              <a:rPr lang="en-US" sz="3100" dirty="0" err="1"/>
              <a:t>информации</a:t>
            </a:r>
            <a:br>
              <a:rPr lang="en-US" sz="3100" dirty="0"/>
            </a:br>
            <a:endParaRPr lang="ru-RU" sz="31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41C022-2B68-4295-A425-15E6A8B80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598" y="20527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Многоканальность</a:t>
            </a:r>
            <a:r>
              <a:rPr lang="en-US" sz="1800" dirty="0"/>
              <a:t> </a:t>
            </a:r>
            <a:r>
              <a:rPr lang="en-US" sz="1800" dirty="0" err="1"/>
              <a:t>доставки</a:t>
            </a:r>
            <a:r>
              <a:rPr lang="en-US" sz="1800" dirty="0"/>
              <a:t> </a:t>
            </a:r>
            <a:r>
              <a:rPr lang="en-US" sz="1800" dirty="0" err="1"/>
              <a:t>информации</a:t>
            </a:r>
            <a:r>
              <a:rPr lang="en-US" sz="1800" dirty="0"/>
              <a:t> — </a:t>
            </a:r>
            <a:r>
              <a:rPr lang="en-US" sz="1800" dirty="0" err="1"/>
              <a:t>стратегическое</a:t>
            </a:r>
            <a:r>
              <a:rPr lang="en-US" sz="1800" dirty="0"/>
              <a:t> </a:t>
            </a:r>
            <a:r>
              <a:rPr lang="en-US" sz="1800" dirty="0" err="1"/>
              <a:t>преимущество</a:t>
            </a:r>
            <a:r>
              <a:rPr lang="en-US" sz="1800" dirty="0"/>
              <a:t> </a:t>
            </a:r>
            <a:r>
              <a:rPr lang="en-US" sz="1800" dirty="0" err="1"/>
              <a:t>современного</a:t>
            </a:r>
            <a:r>
              <a:rPr lang="en-US" sz="1800" dirty="0"/>
              <a:t> </a:t>
            </a:r>
            <a:r>
              <a:rPr lang="en-US" sz="1800" dirty="0" err="1"/>
              <a:t>портала</a:t>
            </a:r>
            <a:r>
              <a:rPr lang="en-US" sz="1800" dirty="0"/>
              <a:t>. </a:t>
            </a:r>
            <a:r>
              <a:rPr lang="en-US" sz="1800" dirty="0" err="1"/>
              <a:t>Разные</a:t>
            </a:r>
            <a:r>
              <a:rPr lang="en-US" sz="1800" dirty="0"/>
              <a:t> </a:t>
            </a:r>
            <a:r>
              <a:rPr lang="en-US" sz="1800" dirty="0" err="1"/>
              <a:t>форматы</a:t>
            </a:r>
            <a:r>
              <a:rPr lang="en-US" sz="1800" dirty="0"/>
              <a:t> </a:t>
            </a:r>
            <a:r>
              <a:rPr lang="en-US" sz="1800" dirty="0" err="1"/>
              <a:t>закрывают</a:t>
            </a:r>
            <a:r>
              <a:rPr lang="en-US" sz="1800" dirty="0"/>
              <a:t> </a:t>
            </a:r>
            <a:r>
              <a:rPr lang="en-US" sz="1800" dirty="0" err="1"/>
              <a:t>различные</a:t>
            </a:r>
            <a:r>
              <a:rPr lang="en-US" sz="1800" dirty="0"/>
              <a:t> </a:t>
            </a:r>
            <a:r>
              <a:rPr lang="en-US" sz="1800" dirty="0" err="1"/>
              <a:t>потребности</a:t>
            </a:r>
            <a:r>
              <a:rPr lang="en-US" sz="1800" dirty="0"/>
              <a:t> </a:t>
            </a:r>
            <a:r>
              <a:rPr lang="en-US" sz="1800" dirty="0" err="1"/>
              <a:t>пользователей</a:t>
            </a:r>
            <a:r>
              <a:rPr lang="ru-RU" sz="1800" dirty="0"/>
              <a:t>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661F586-65EE-4DCD-A61E-6CB9091796E7}"/>
              </a:ext>
            </a:extLst>
          </p:cNvPr>
          <p:cNvSpPr/>
          <p:nvPr/>
        </p:nvSpPr>
        <p:spPr>
          <a:xfrm>
            <a:off x="1274415" y="2971933"/>
            <a:ext cx="297132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 err="1"/>
              <a:t>Электронный</a:t>
            </a:r>
            <a:r>
              <a:rPr lang="en-US" sz="2400" dirty="0"/>
              <a:t> </a:t>
            </a:r>
            <a:r>
              <a:rPr lang="en-US" sz="2400" dirty="0" err="1"/>
              <a:t>формат</a:t>
            </a:r>
            <a:endParaRPr lang="en-US" sz="2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5D7B4366-1DCF-4F29-847B-DB2B12BAA185}"/>
              </a:ext>
            </a:extLst>
          </p:cNvPr>
          <p:cNvSpPr/>
          <p:nvPr/>
        </p:nvSpPr>
        <p:spPr>
          <a:xfrm>
            <a:off x="821721" y="3448534"/>
            <a:ext cx="6050994" cy="155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dirty="0"/>
              <a:t>Веб-сайт и </a:t>
            </a:r>
            <a:r>
              <a:rPr lang="en-US" dirty="0" err="1"/>
              <a:t>мобильное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endParaRPr lang="en-US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dirty="0"/>
              <a:t>Email-рассылки и </a:t>
            </a:r>
            <a:r>
              <a:rPr lang="en-US" dirty="0" err="1"/>
              <a:t>дайджесты</a:t>
            </a:r>
            <a:endParaRPr lang="en-US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dirty="0"/>
              <a:t>API-интеграции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партнёров</a:t>
            </a:r>
            <a:endParaRPr lang="en-US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dirty="0"/>
              <a:t>Социальные сети и </a:t>
            </a:r>
            <a:r>
              <a:rPr lang="en-US" dirty="0" err="1"/>
              <a:t>мессенджеры</a:t>
            </a:r>
            <a:endParaRPr lang="en-US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458BC2EA-331C-4A4A-82EF-B3B80225F8A3}"/>
              </a:ext>
            </a:extLst>
          </p:cNvPr>
          <p:cNvSpPr/>
          <p:nvPr/>
        </p:nvSpPr>
        <p:spPr>
          <a:xfrm>
            <a:off x="5973715" y="2958584"/>
            <a:ext cx="261139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</a:t>
            </a:r>
            <a:r>
              <a:rPr lang="en-US" sz="2400" dirty="0" err="1"/>
              <a:t>Бумажный</a:t>
            </a:r>
            <a:r>
              <a:rPr lang="en-US" sz="2400" dirty="0"/>
              <a:t> </a:t>
            </a:r>
            <a:r>
              <a:rPr lang="en-US" sz="2400" dirty="0" err="1"/>
              <a:t>формат</a:t>
            </a:r>
            <a:endParaRPr lang="en-US" sz="24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7892A00B-BFEE-4CCD-8064-818D1D8FEC00}"/>
              </a:ext>
            </a:extLst>
          </p:cNvPr>
          <p:cNvSpPr/>
          <p:nvPr/>
        </p:nvSpPr>
        <p:spPr>
          <a:xfrm>
            <a:off x="5701000" y="3470203"/>
            <a:ext cx="6050994" cy="155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/>
              <a:t>Печатные издания (газеты, журналы)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/>
              <a:t>Отраслевые отчёты в PDF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/>
              <a:t>Корпоративные бюллетени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/>
              <a:t>Официальные публикации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01FA78-7E6E-4D53-9E86-15D850EC8174}"/>
              </a:ext>
            </a:extLst>
          </p:cNvPr>
          <p:cNvSpPr/>
          <p:nvPr/>
        </p:nvSpPr>
        <p:spPr>
          <a:xfrm>
            <a:off x="821721" y="5169338"/>
            <a:ext cx="417162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/>
              <a:t>Потребности: скорость, доступность, </a:t>
            </a:r>
            <a:endParaRPr lang="ru-RU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dirty="0" err="1"/>
              <a:t>интерактивность</a:t>
            </a:r>
            <a:r>
              <a:rPr lang="en-US" dirty="0"/>
              <a:t>, </a:t>
            </a:r>
            <a:r>
              <a:rPr lang="en-US" dirty="0" err="1"/>
              <a:t>персонализация</a:t>
            </a:r>
            <a:endParaRPr lang="en-US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2B827DB0-16D2-4727-8DCF-F6936DA17B5D}"/>
              </a:ext>
            </a:extLst>
          </p:cNvPr>
          <p:cNvSpPr/>
          <p:nvPr/>
        </p:nvSpPr>
        <p:spPr>
          <a:xfrm>
            <a:off x="5636408" y="5169338"/>
            <a:ext cx="6050994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/>
              <a:t>Потребности: архивность, юридическая значимость, </a:t>
            </a:r>
            <a:endParaRPr lang="ru-RU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dirty="0" err="1"/>
              <a:t>доверие</a:t>
            </a:r>
            <a:r>
              <a:rPr lang="en-US" dirty="0"/>
              <a:t>, </a:t>
            </a:r>
            <a:r>
              <a:rPr lang="en-US" dirty="0" err="1"/>
              <a:t>офлайн-доступ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4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D3E31-CBC7-4E72-AA59-FB98C824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754" y="587427"/>
            <a:ext cx="2017762" cy="1049235"/>
          </a:xfrm>
        </p:spPr>
        <p:txBody>
          <a:bodyPr/>
          <a:lstStyle/>
          <a:p>
            <a:r>
              <a:rPr lang="ru-RU" sz="3100" dirty="0"/>
              <a:t>Результат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9C5F404-3437-41B3-B091-79B2943D4F62}"/>
              </a:ext>
            </a:extLst>
          </p:cNvPr>
          <p:cNvSpPr/>
          <p:nvPr/>
        </p:nvSpPr>
        <p:spPr>
          <a:xfrm>
            <a:off x="1008809" y="2437053"/>
            <a:ext cx="3360420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 err="1"/>
              <a:t>Многоканальная</a:t>
            </a:r>
            <a:r>
              <a:rPr lang="en-US" dirty="0"/>
              <a:t> </a:t>
            </a:r>
            <a:r>
              <a:rPr lang="en-US" dirty="0" err="1"/>
              <a:t>монетизация</a:t>
            </a:r>
            <a:endParaRPr lang="en-US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AA93ECFB-CAFC-48A8-9746-5B1B1D711FE4}"/>
              </a:ext>
            </a:extLst>
          </p:cNvPr>
          <p:cNvSpPr/>
          <p:nvPr/>
        </p:nvSpPr>
        <p:spPr>
          <a:xfrm>
            <a:off x="1008809" y="2788933"/>
            <a:ext cx="4256723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dirty="0"/>
              <a:t>Сочетание рекламы, подписок и партнёрских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риски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9B86D470-0BC7-400B-BB1C-18B9689670D8}"/>
              </a:ext>
            </a:extLst>
          </p:cNvPr>
          <p:cNvSpPr/>
          <p:nvPr/>
        </p:nvSpPr>
        <p:spPr>
          <a:xfrm>
            <a:off x="6096000" y="2486984"/>
            <a:ext cx="5746130" cy="55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/>
              <a:t>Нативный контент как </a:t>
            </a:r>
            <a:r>
              <a:rPr lang="en-US" dirty="0" err="1"/>
              <a:t>рекламный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endParaRPr lang="en-US" dirty="0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ACA6533-7EC8-48AE-80D6-55823D4DCED5}"/>
              </a:ext>
            </a:extLst>
          </p:cNvPr>
          <p:cNvSpPr/>
          <p:nvPr/>
        </p:nvSpPr>
        <p:spPr>
          <a:xfrm>
            <a:off x="6096000" y="2838865"/>
            <a:ext cx="5226177" cy="115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dirty="0"/>
              <a:t>Интеграция рекламы в редакционный контент обеспечивает в 3–5 раз более высокую вовлечённость по сравнению с </a:t>
            </a:r>
            <a:r>
              <a:rPr lang="en-US" dirty="0" err="1"/>
              <a:t>баннерами</a:t>
            </a:r>
            <a:r>
              <a:rPr lang="en-US" dirty="0"/>
              <a:t>.</a:t>
            </a: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CAEBCC4D-A03F-4017-A41C-48F8705C2B20}"/>
              </a:ext>
            </a:extLst>
          </p:cNvPr>
          <p:cNvSpPr/>
          <p:nvPr/>
        </p:nvSpPr>
        <p:spPr>
          <a:xfrm>
            <a:off x="1008809" y="4074988"/>
            <a:ext cx="4567238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/>
              <a:t>Гибридная модель </a:t>
            </a:r>
            <a:r>
              <a:rPr lang="en-US" dirty="0" err="1"/>
              <a:t>доставки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endParaRPr lang="en-US" dirty="0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D9C56999-959C-45D1-934F-117CA7A1A8EB}"/>
              </a:ext>
            </a:extLst>
          </p:cNvPr>
          <p:cNvSpPr/>
          <p:nvPr/>
        </p:nvSpPr>
        <p:spPr>
          <a:xfrm>
            <a:off x="1008809" y="4561257"/>
            <a:ext cx="4172160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dirty="0"/>
              <a:t>Электронный канал для массового охвата, премиальный печатный/экспортный формат для корпоративных </a:t>
            </a:r>
            <a:r>
              <a:rPr lang="en-US" dirty="0" err="1"/>
              <a:t>клиентов</a:t>
            </a:r>
            <a:r>
              <a:rPr lang="en-US" dirty="0"/>
              <a:t>.</a:t>
            </a:r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4B391598-E253-4855-9604-A7AAC736BCB5}"/>
              </a:ext>
            </a:extLst>
          </p:cNvPr>
          <p:cNvSpPr/>
          <p:nvPr/>
        </p:nvSpPr>
        <p:spPr>
          <a:xfrm>
            <a:off x="6096000" y="4142104"/>
            <a:ext cx="4446389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/>
              <a:t>Оперативность и </a:t>
            </a:r>
            <a:r>
              <a:rPr lang="en-US" dirty="0" err="1"/>
              <a:t>достоверность</a:t>
            </a:r>
            <a:endParaRPr lang="en-US" dirty="0"/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33C1821C-CA9B-4F84-832C-12CFCC8CB0F9}"/>
              </a:ext>
            </a:extLst>
          </p:cNvPr>
          <p:cNvSpPr/>
          <p:nvPr/>
        </p:nvSpPr>
        <p:spPr>
          <a:xfrm>
            <a:off x="6096000" y="4616760"/>
            <a:ext cx="6470928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/>
              <a:t>Скорость обновления контента и репутация надёжного источника — главные конкурентные преимущества в информационном пространстве</a:t>
            </a: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4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444C2-F8FE-4B85-BE9B-5819C87DBE01}"/>
              </a:ext>
            </a:extLst>
          </p:cNvPr>
          <p:cNvSpPr txBox="1"/>
          <p:nvPr/>
        </p:nvSpPr>
        <p:spPr>
          <a:xfrm>
            <a:off x="1008809" y="1941712"/>
            <a:ext cx="1167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разработке своего электронного бизнеса я бы рассмотрел следующие </a:t>
            </a:r>
            <a:r>
              <a:rPr lang="ru-RU" dirty="0" err="1"/>
              <a:t>интструменты</a:t>
            </a:r>
            <a:r>
              <a:rPr lang="ru-R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74527599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Галерея</Template>
  <TotalTime>130</TotalTime>
  <Words>767</Words>
  <Application>Microsoft Office PowerPoint</Application>
  <PresentationFormat>Широкоэкранный</PresentationFormat>
  <Paragraphs>107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Funnel Display</vt:lpstr>
      <vt:lpstr>Funnel Sans</vt:lpstr>
      <vt:lpstr>Gill Sans MT</vt:lpstr>
      <vt:lpstr>Галерея</vt:lpstr>
      <vt:lpstr>Бизнес-модель информационных порталов </vt:lpstr>
      <vt:lpstr>Направления деятельности и  целевые сегменты</vt:lpstr>
      <vt:lpstr>Технология работы информационного портала </vt:lpstr>
      <vt:lpstr>Система CRM: управление клиентской базой </vt:lpstr>
      <vt:lpstr>Модели монетизации</vt:lpstr>
      <vt:lpstr>Прогноз доходов</vt:lpstr>
      <vt:lpstr>Рекламная стратегия</vt:lpstr>
      <vt:lpstr>Оценка информационного наполнения портала </vt:lpstr>
      <vt:lpstr>Схемы предоставления информации </vt:lpstr>
      <vt:lpstr>Результат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Бизнес-модель информационных порталов </dc:title>
  <dc:creator>daby34</dc:creator>
  <cp:lastModifiedBy>daby34</cp:lastModifiedBy>
  <cp:revision>17</cp:revision>
  <dcterms:created xsi:type="dcterms:W3CDTF">2026-04-07T09:57:36Z</dcterms:created>
  <dcterms:modified xsi:type="dcterms:W3CDTF">2026-04-07T12:48:10Z</dcterms:modified>
</cp:coreProperties>
</file>